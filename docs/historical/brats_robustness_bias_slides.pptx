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ndJ+57nsUE14/3p+o0g70JXeJ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3a268200d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3a268200d_1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3a268200d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3a268200d_20_0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3a268200d_1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3a268200d_16_75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3a268200d_16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3a268200d_16_86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3a268200d_16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e3a268200d_16_105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3a268200d_16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3a268200d_16_115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3a268200d_1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3a268200d_16_134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3a268200d_16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e3a268200d_16_148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3a268200d_16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3a268200d_16_162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a268200d_16_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3a268200d_16_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3a268200d_16_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a268200d_16_10"/>
          <p:cNvSpPr txBox="1"/>
          <p:nvPr>
            <p:ph type="ctrTitle"/>
          </p:nvPr>
        </p:nvSpPr>
        <p:spPr>
          <a:xfrm>
            <a:off x="685782" y="2130425"/>
            <a:ext cx="777219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e3a268200d_16_10"/>
          <p:cNvSpPr txBox="1"/>
          <p:nvPr>
            <p:ph idx="1" type="subTitle"/>
          </p:nvPr>
        </p:nvSpPr>
        <p:spPr>
          <a:xfrm>
            <a:off x="1371563" y="3886200"/>
            <a:ext cx="640062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e3a268200d_16_1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3a268200d_16_1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3a268200d_16_1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3a268200d_16_16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3a268200d_16_16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e3a268200d_16_1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3a268200d_16_1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3a268200d_16_1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a268200d_16_22"/>
          <p:cNvSpPr txBox="1"/>
          <p:nvPr>
            <p:ph type="title"/>
          </p:nvPr>
        </p:nvSpPr>
        <p:spPr>
          <a:xfrm>
            <a:off x="722294" y="4406900"/>
            <a:ext cx="7772193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3a268200d_16_22"/>
          <p:cNvSpPr txBox="1"/>
          <p:nvPr>
            <p:ph idx="1" type="body"/>
          </p:nvPr>
        </p:nvSpPr>
        <p:spPr>
          <a:xfrm>
            <a:off x="722294" y="2906713"/>
            <a:ext cx="777219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e3a268200d_16_22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e3a268200d_16_22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3a268200d_16_22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a268200d_16_28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3a268200d_16_28"/>
          <p:cNvSpPr txBox="1"/>
          <p:nvPr>
            <p:ph idx="1" type="body"/>
          </p:nvPr>
        </p:nvSpPr>
        <p:spPr>
          <a:xfrm>
            <a:off x="457188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e3a268200d_16_28"/>
          <p:cNvSpPr txBox="1"/>
          <p:nvPr>
            <p:ph idx="2" type="body"/>
          </p:nvPr>
        </p:nvSpPr>
        <p:spPr>
          <a:xfrm>
            <a:off x="4648076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e3a268200d_16_28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e3a268200d_16_28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3a268200d_16_28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a268200d_16_35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e3a268200d_16_35"/>
          <p:cNvSpPr txBox="1"/>
          <p:nvPr>
            <p:ph idx="1" type="body"/>
          </p:nvPr>
        </p:nvSpPr>
        <p:spPr>
          <a:xfrm>
            <a:off x="457188" y="1535113"/>
            <a:ext cx="404008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e3a268200d_16_35"/>
          <p:cNvSpPr txBox="1"/>
          <p:nvPr>
            <p:ph idx="2" type="body"/>
          </p:nvPr>
        </p:nvSpPr>
        <p:spPr>
          <a:xfrm>
            <a:off x="457188" y="2174875"/>
            <a:ext cx="404008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e3a268200d_16_35"/>
          <p:cNvSpPr txBox="1"/>
          <p:nvPr>
            <p:ph idx="3" type="body"/>
          </p:nvPr>
        </p:nvSpPr>
        <p:spPr>
          <a:xfrm>
            <a:off x="4644901" y="1535113"/>
            <a:ext cx="404166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e3a268200d_16_35"/>
          <p:cNvSpPr txBox="1"/>
          <p:nvPr>
            <p:ph idx="4" type="body"/>
          </p:nvPr>
        </p:nvSpPr>
        <p:spPr>
          <a:xfrm>
            <a:off x="4644901" y="2174875"/>
            <a:ext cx="404166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e3a268200d_16_35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3a268200d_16_35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3a268200d_16_35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3a268200d_16_44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e3a268200d_16_44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3a268200d_16_44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3a268200d_16_44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3a268200d_16_49"/>
          <p:cNvSpPr txBox="1"/>
          <p:nvPr>
            <p:ph type="title"/>
          </p:nvPr>
        </p:nvSpPr>
        <p:spPr>
          <a:xfrm>
            <a:off x="457188" y="273050"/>
            <a:ext cx="30082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3a268200d_16_49"/>
          <p:cNvSpPr txBox="1"/>
          <p:nvPr>
            <p:ph idx="1" type="body"/>
          </p:nvPr>
        </p:nvSpPr>
        <p:spPr>
          <a:xfrm>
            <a:off x="3574955" y="273050"/>
            <a:ext cx="5111614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e3a268200d_16_49"/>
          <p:cNvSpPr txBox="1"/>
          <p:nvPr>
            <p:ph idx="2" type="body"/>
          </p:nvPr>
        </p:nvSpPr>
        <p:spPr>
          <a:xfrm>
            <a:off x="457188" y="1435100"/>
            <a:ext cx="300823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e3a268200d_16_4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e3a268200d_16_4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e3a268200d_16_4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a268200d_16_56"/>
          <p:cNvSpPr txBox="1"/>
          <p:nvPr>
            <p:ph type="title"/>
          </p:nvPr>
        </p:nvSpPr>
        <p:spPr>
          <a:xfrm>
            <a:off x="1792240" y="4800600"/>
            <a:ext cx="548625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e3a268200d_16_56"/>
          <p:cNvSpPr/>
          <p:nvPr>
            <p:ph idx="2" type="pic"/>
          </p:nvPr>
        </p:nvSpPr>
        <p:spPr>
          <a:xfrm>
            <a:off x="1792240" y="612775"/>
            <a:ext cx="5486254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3a268200d_16_56"/>
          <p:cNvSpPr txBox="1"/>
          <p:nvPr>
            <p:ph idx="1" type="body"/>
          </p:nvPr>
        </p:nvSpPr>
        <p:spPr>
          <a:xfrm>
            <a:off x="1792240" y="5367338"/>
            <a:ext cx="5486254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e3a268200d_16_5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e3a268200d_16_5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e3a268200d_16_5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3a268200d_16_63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e3a268200d_16_63"/>
          <p:cNvSpPr txBox="1"/>
          <p:nvPr>
            <p:ph idx="1" type="body"/>
          </p:nvPr>
        </p:nvSpPr>
        <p:spPr>
          <a:xfrm rot="5400000">
            <a:off x="2308897" y="-251509"/>
            <a:ext cx="4525963" cy="822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e3a268200d_16_63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3a268200d_16_63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e3a268200d_16_63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a268200d_16_69"/>
          <p:cNvSpPr txBox="1"/>
          <p:nvPr>
            <p:ph type="title"/>
          </p:nvPr>
        </p:nvSpPr>
        <p:spPr>
          <a:xfrm rot="5400000">
            <a:off x="4732133" y="2171728"/>
            <a:ext cx="5851525" cy="2057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e3a268200d_16_69"/>
          <p:cNvSpPr txBox="1"/>
          <p:nvPr>
            <p:ph idx="1" type="body"/>
          </p:nvPr>
        </p:nvSpPr>
        <p:spPr>
          <a:xfrm rot="5400000">
            <a:off x="541245" y="190581"/>
            <a:ext cx="5851525" cy="601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e3a268200d_16_6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3a268200d_16_6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e3a268200d_16_6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3a268200d_16_0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e3a268200d_16_0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e3a268200d_16_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e3a268200d_16_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e3a268200d_16_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640080" y="1020260"/>
            <a:ext cx="109728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Robustness of Brain Tumor Segmentation under MRI Corruptions</a:t>
            </a:r>
            <a:endParaRPr sz="4000"/>
          </a:p>
        </p:txBody>
      </p:sp>
      <p:sp>
        <p:nvSpPr>
          <p:cNvPr id="161" name="Google Shape;161;p1"/>
          <p:cNvSpPr txBox="1"/>
          <p:nvPr/>
        </p:nvSpPr>
        <p:spPr>
          <a:xfrm>
            <a:off x="640080" y="3383280"/>
            <a:ext cx="10972800" cy="21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Mohammad Moghareh Dehkordi, </a:t>
            </a:r>
            <a:r>
              <a:rPr lang="en-US" sz="21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Ons Bahrouni and Sina Mozaffari Tabar</a:t>
            </a:r>
            <a:endParaRPr sz="21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Computer-Aided Medical Procedures II (IN2022) </a:t>
            </a:r>
            <a:endParaRPr sz="19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Summer Semester 2026</a:t>
            </a:r>
            <a:endParaRPr sz="19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21.05.2026</a:t>
            </a:r>
            <a:endParaRPr sz="19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· BraTS 2020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914400" y="1463040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368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3383280" y="2011675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atients with full ground-truth segmentation</a:t>
            </a:r>
            <a:endParaRPr sz="2200"/>
          </a:p>
        </p:txBody>
      </p:sp>
      <p:sp>
        <p:nvSpPr>
          <p:cNvPr id="170" name="Google Shape;170;p3"/>
          <p:cNvSpPr txBox="1"/>
          <p:nvPr/>
        </p:nvSpPr>
        <p:spPr>
          <a:xfrm>
            <a:off x="914400" y="2880360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3383280" y="3428995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o-registered modalities  ·  T1, T1ce, T2, </a:t>
            </a:r>
            <a:r>
              <a:rPr b="1" i="0" lang="en-US" sz="22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FLAIR</a:t>
            </a:r>
            <a:endParaRPr b="1" sz="2200">
              <a:solidFill>
                <a:srgbClr val="D62728"/>
              </a:solidFill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914400" y="4297680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3383280" y="4846315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ested regions evaluated  ·  WT, TC, ET</a:t>
            </a:r>
            <a:endParaRPr sz="2200"/>
          </a:p>
        </p:txBody>
      </p:sp>
      <p:sp>
        <p:nvSpPr>
          <p:cNvPr id="174" name="Google Shape;174;p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3a268200d_1_123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3a268200d_1_123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Research Question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3a268200d_1_123"/>
          <p:cNvSpPr txBox="1"/>
          <p:nvPr/>
        </p:nvSpPr>
        <p:spPr>
          <a:xfrm>
            <a:off x="640080" y="1463040"/>
            <a:ext cx="109728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What happens to brain tumor segmentation when the </a:t>
            </a:r>
            <a:r>
              <a:rPr b="1" lang="en-US" sz="30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FLAIR</a:t>
            </a:r>
            <a:r>
              <a:rPr b="1" lang="en-US" sz="3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modality is corrupted?</a:t>
            </a:r>
            <a:endParaRPr b="1" sz="3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3a268200d_1_123"/>
          <p:cNvSpPr/>
          <p:nvPr/>
        </p:nvSpPr>
        <p:spPr>
          <a:xfrm>
            <a:off x="822960" y="4206240"/>
            <a:ext cx="3383400" cy="639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3a268200d_1_123"/>
          <p:cNvSpPr txBox="1"/>
          <p:nvPr/>
        </p:nvSpPr>
        <p:spPr>
          <a:xfrm>
            <a:off x="822960" y="3803815"/>
            <a:ext cx="3383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22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wo </a:t>
            </a:r>
            <a:r>
              <a:rPr b="1" lang="en-US" sz="22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22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orruptions</a:t>
            </a:r>
            <a:endParaRPr sz="2200"/>
          </a:p>
        </p:txBody>
      </p:sp>
      <p:sp>
        <p:nvSpPr>
          <p:cNvPr id="185" name="Google Shape;185;g3e3a268200d_1_123"/>
          <p:cNvSpPr txBox="1"/>
          <p:nvPr/>
        </p:nvSpPr>
        <p:spPr>
          <a:xfrm>
            <a:off x="841520" y="4361032"/>
            <a:ext cx="33834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Gaussian Noise </a:t>
            </a:r>
            <a:endParaRPr sz="19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Multiplicative Bias Field</a:t>
            </a:r>
            <a:endParaRPr sz="1900"/>
          </a:p>
        </p:txBody>
      </p:sp>
      <p:sp>
        <p:nvSpPr>
          <p:cNvPr id="186" name="Google Shape;186;g3e3a268200d_1_123"/>
          <p:cNvSpPr/>
          <p:nvPr/>
        </p:nvSpPr>
        <p:spPr>
          <a:xfrm>
            <a:off x="4572000" y="4206240"/>
            <a:ext cx="3383400" cy="6390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3a268200d_1_123"/>
          <p:cNvSpPr txBox="1"/>
          <p:nvPr/>
        </p:nvSpPr>
        <p:spPr>
          <a:xfrm>
            <a:off x="4572000" y="3803815"/>
            <a:ext cx="3383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BEC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2200" u="none" cap="none" strike="noStrike">
                <a:solidFill>
                  <a:srgbClr val="17BECF"/>
                </a:solidFill>
                <a:latin typeface="Calibri"/>
                <a:ea typeface="Calibri"/>
                <a:cs typeface="Calibri"/>
                <a:sym typeface="Calibri"/>
              </a:rPr>
              <a:t>hree </a:t>
            </a:r>
            <a:r>
              <a:rPr b="1" lang="en-US" sz="2200">
                <a:solidFill>
                  <a:srgbClr val="17BEC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en-US" sz="2200" u="none" cap="none" strike="noStrike">
                <a:solidFill>
                  <a:srgbClr val="17BECF"/>
                </a:solidFill>
                <a:latin typeface="Calibri"/>
                <a:ea typeface="Calibri"/>
                <a:cs typeface="Calibri"/>
                <a:sym typeface="Calibri"/>
              </a:rPr>
              <a:t>itigations</a:t>
            </a:r>
            <a:endParaRPr sz="2200"/>
          </a:p>
        </p:txBody>
      </p:sp>
      <p:sp>
        <p:nvSpPr>
          <p:cNvPr id="188" name="Google Shape;188;g3e3a268200d_1_123"/>
          <p:cNvSpPr txBox="1"/>
          <p:nvPr/>
        </p:nvSpPr>
        <p:spPr>
          <a:xfrm>
            <a:off x="4590560" y="4361032"/>
            <a:ext cx="338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Linear Filters</a:t>
            </a:r>
            <a:endParaRPr sz="19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N4 Correction</a:t>
            </a:r>
            <a:endParaRPr sz="19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1900"/>
          </a:p>
        </p:txBody>
      </p:sp>
      <p:sp>
        <p:nvSpPr>
          <p:cNvPr id="189" name="Google Shape;189;g3e3a268200d_1_123"/>
          <p:cNvSpPr/>
          <p:nvPr/>
        </p:nvSpPr>
        <p:spPr>
          <a:xfrm>
            <a:off x="8321040" y="4206240"/>
            <a:ext cx="3383400" cy="639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3a268200d_1_123"/>
          <p:cNvSpPr txBox="1"/>
          <p:nvPr/>
        </p:nvSpPr>
        <p:spPr>
          <a:xfrm>
            <a:off x="8321040" y="3803815"/>
            <a:ext cx="3383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US" sz="2200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ne </a:t>
            </a:r>
            <a:r>
              <a:rPr b="1" lang="en-US" sz="22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2200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aired </a:t>
            </a:r>
            <a:r>
              <a:rPr b="1" lang="en-US" sz="22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2200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omparison</a:t>
            </a:r>
            <a:endParaRPr sz="2200"/>
          </a:p>
        </p:txBody>
      </p:sp>
      <p:sp>
        <p:nvSpPr>
          <p:cNvPr id="191" name="Google Shape;191;g3e3a268200d_1_123"/>
          <p:cNvSpPr txBox="1"/>
          <p:nvPr/>
        </p:nvSpPr>
        <p:spPr>
          <a:xfrm>
            <a:off x="8339600" y="4361032"/>
            <a:ext cx="33834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55 patients</a:t>
            </a:r>
            <a:endParaRPr sz="2000"/>
          </a:p>
        </p:txBody>
      </p:sp>
      <p:sp>
        <p:nvSpPr>
          <p:cNvPr id="192" name="Google Shape;192;g3e3a268200d_1_123"/>
          <p:cNvSpPr txBox="1"/>
          <p:nvPr/>
        </p:nvSpPr>
        <p:spPr>
          <a:xfrm>
            <a:off x="365760" y="6492240"/>
            <a:ext cx="7315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193" name="Google Shape;193;g3e3a268200d_1_123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Pretrained Model and Clean Baseline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640080" y="1371600"/>
            <a:ext cx="109728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MONAI (</a:t>
            </a:r>
            <a:r>
              <a:rPr b="1" i="0" lang="en-US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brats_mri_segmentation)</a:t>
            </a:r>
            <a:endParaRPr sz="1200"/>
          </a:p>
        </p:txBody>
      </p:sp>
      <p:sp>
        <p:nvSpPr>
          <p:cNvPr id="201" name="Google Shape;201;p5"/>
          <p:cNvSpPr txBox="1"/>
          <p:nvPr/>
        </p:nvSpPr>
        <p:spPr>
          <a:xfrm>
            <a:off x="640080" y="2103120"/>
            <a:ext cx="109728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SegResNet architecture with pretrained MONAI weights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T1 · T1ce · T2 · FLAIR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WT · TC · ET tumor masks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1149750" y="4006399"/>
            <a:ext cx="98922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900" lIns="22900" spcFirstLastPara="1" rIns="22900" wrap="square" tIns="22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13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Clean baseline on test set (n=55)</a:t>
            </a:r>
            <a:endParaRPr sz="1913"/>
          </a:p>
        </p:txBody>
      </p:sp>
      <p:sp>
        <p:nvSpPr>
          <p:cNvPr id="203" name="Google Shape;203;p5"/>
          <p:cNvSpPr txBox="1"/>
          <p:nvPr/>
        </p:nvSpPr>
        <p:spPr>
          <a:xfrm>
            <a:off x="2600322" y="4483675"/>
            <a:ext cx="20562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6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0.914</a:t>
            </a:r>
            <a:endParaRPr sz="1049"/>
          </a:p>
        </p:txBody>
      </p:sp>
      <p:sp>
        <p:nvSpPr>
          <p:cNvPr id="204" name="Google Shape;204;p5"/>
          <p:cNvSpPr txBox="1"/>
          <p:nvPr/>
        </p:nvSpPr>
        <p:spPr>
          <a:xfrm>
            <a:off x="2600322" y="5511754"/>
            <a:ext cx="2056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4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WT  DSC</a:t>
            </a:r>
            <a:endParaRPr sz="1424"/>
          </a:p>
        </p:txBody>
      </p:sp>
      <p:sp>
        <p:nvSpPr>
          <p:cNvPr id="205" name="Google Shape;205;p5"/>
          <p:cNvSpPr txBox="1"/>
          <p:nvPr/>
        </p:nvSpPr>
        <p:spPr>
          <a:xfrm>
            <a:off x="5067699" y="4483675"/>
            <a:ext cx="20562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6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0.886</a:t>
            </a:r>
            <a:endParaRPr sz="1049"/>
          </a:p>
        </p:txBody>
      </p:sp>
      <p:sp>
        <p:nvSpPr>
          <p:cNvPr id="206" name="Google Shape;206;p5"/>
          <p:cNvSpPr txBox="1"/>
          <p:nvPr/>
        </p:nvSpPr>
        <p:spPr>
          <a:xfrm>
            <a:off x="5067699" y="5511754"/>
            <a:ext cx="2056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4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TC  DSC</a:t>
            </a:r>
            <a:endParaRPr sz="1424"/>
          </a:p>
        </p:txBody>
      </p:sp>
      <p:sp>
        <p:nvSpPr>
          <p:cNvPr id="207" name="Google Shape;207;p5"/>
          <p:cNvSpPr txBox="1"/>
          <p:nvPr/>
        </p:nvSpPr>
        <p:spPr>
          <a:xfrm>
            <a:off x="7535075" y="4483675"/>
            <a:ext cx="20562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6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0.766</a:t>
            </a:r>
            <a:endParaRPr sz="1049"/>
          </a:p>
        </p:txBody>
      </p:sp>
      <p:sp>
        <p:nvSpPr>
          <p:cNvPr id="208" name="Google Shape;208;p5"/>
          <p:cNvSpPr txBox="1"/>
          <p:nvPr/>
        </p:nvSpPr>
        <p:spPr>
          <a:xfrm>
            <a:off x="7535075" y="5511754"/>
            <a:ext cx="2056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4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ET  DSC</a:t>
            </a:r>
            <a:endParaRPr sz="1424"/>
          </a:p>
        </p:txBody>
      </p:sp>
      <p:sp>
        <p:nvSpPr>
          <p:cNvPr id="209" name="Google Shape;209;p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pic>
        <p:nvPicPr>
          <p:cNvPr id="211" name="Google Shape;21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522" y="1778697"/>
            <a:ext cx="3482350" cy="110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Split and Evaluation Setup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640080" y="1463040"/>
            <a:ext cx="356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1" i="0" sz="2400" u="none" cap="none" strike="noStrike">
              <a:solidFill>
                <a:srgbClr val="1F77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1" sz="1800">
              <a:solidFill>
                <a:srgbClr val="1F77B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640080" y="2286000"/>
            <a:ext cx="35661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258 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640080" y="429768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640080" y="4754880"/>
            <a:ext cx="35661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4480560" y="1463040"/>
            <a:ext cx="356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1" i="0" sz="2400" u="none" cap="none" strike="noStrike">
              <a:solidFill>
                <a:srgbClr val="2CA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1" sz="1800">
              <a:solidFill>
                <a:srgbClr val="2CA0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4480560" y="228600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4480560" y="42976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4480560" y="4754880"/>
            <a:ext cx="35661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Severity selection + Checkpoint selection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8321040" y="1463040"/>
            <a:ext cx="356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1" i="0" sz="2400" u="none" cap="none" strike="noStrike">
              <a:solidFill>
                <a:srgbClr val="D627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1" sz="1800">
              <a:solidFill>
                <a:srgbClr val="D627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8321040" y="228600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8321040" y="42976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8321040" y="4754880"/>
            <a:ext cx="35661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evaluation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Same 55 test patients across every condition · per-patient deterministic corruption seed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Realistic FLAIR Corruptions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40080" y="1280160"/>
            <a:ext cx="539496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D62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68680" y="1463040"/>
            <a:ext cx="5029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①  Gaussian </a:t>
            </a:r>
            <a:r>
              <a:rPr b="1" lang="en-US" sz="26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oise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868680" y="1914560"/>
            <a:ext cx="50292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   A</a:t>
            </a:r>
            <a:r>
              <a:rPr b="0" i="0" lang="en-US" sz="16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dditive · </a:t>
            </a: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16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igh-frequency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868680" y="2411535"/>
            <a:ext cx="50292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FLAIR ← FLAIR + N(0, σ²)</a:t>
            </a:r>
            <a:endParaRPr sz="1900"/>
          </a:p>
        </p:txBody>
      </p:sp>
      <p:sp>
        <p:nvSpPr>
          <p:cNvPr id="245" name="Google Shape;245;p6"/>
          <p:cNvSpPr txBox="1"/>
          <p:nvPr/>
        </p:nvSpPr>
        <p:spPr>
          <a:xfrm>
            <a:off x="868685" y="4618195"/>
            <a:ext cx="5029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Severity grid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σ ∈ {0.5, …, 3.0}</a:t>
            </a:r>
            <a:endParaRPr sz="16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868680" y="5394960"/>
            <a:ext cx="5029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2000" u="none" cap="none" strike="noStrike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hosen σ = 3.0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309360" y="1280160"/>
            <a:ext cx="539496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4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6537960" y="1463040"/>
            <a:ext cx="5029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9467BD"/>
                </a:solidFill>
                <a:latin typeface="Calibri"/>
                <a:ea typeface="Calibri"/>
                <a:cs typeface="Calibri"/>
                <a:sym typeface="Calibri"/>
              </a:rPr>
              <a:t>②  Bias </a:t>
            </a:r>
            <a:r>
              <a:rPr b="1" lang="en-US" sz="2600">
                <a:solidFill>
                  <a:srgbClr val="9467B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2600" u="none" cap="none" strike="noStrike">
                <a:solidFill>
                  <a:srgbClr val="9467BD"/>
                </a:solidFill>
                <a:latin typeface="Calibri"/>
                <a:ea typeface="Calibri"/>
                <a:cs typeface="Calibri"/>
                <a:sym typeface="Calibri"/>
              </a:rPr>
              <a:t>ield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6537960" y="1914560"/>
            <a:ext cx="50292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6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ultiplicative · </a:t>
            </a: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6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ow-frequency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6537960" y="2399885"/>
            <a:ext cx="5029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FLAIR ← FLAIR × b(x)</a:t>
            </a:r>
            <a:endParaRPr sz="2000"/>
          </a:p>
        </p:txBody>
      </p:sp>
      <p:sp>
        <p:nvSpPr>
          <p:cNvPr id="251" name="Google Shape;251;p6"/>
          <p:cNvSpPr txBox="1"/>
          <p:nvPr/>
        </p:nvSpPr>
        <p:spPr>
          <a:xfrm>
            <a:off x="6537960" y="4500465"/>
            <a:ext cx="5029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Severity grid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trength ∈ {0.2, …, 1.2}</a:t>
            </a:r>
            <a:endParaRPr sz="1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6537960" y="5394960"/>
            <a:ext cx="5029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467B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2000" u="none" cap="none" strike="noStrike">
                <a:solidFill>
                  <a:srgbClr val="9467BD"/>
                </a:solidFill>
                <a:latin typeface="Calibri"/>
                <a:ea typeface="Calibri"/>
                <a:cs typeface="Calibri"/>
                <a:sym typeface="Calibri"/>
              </a:rPr>
              <a:t>hosen strength = 1.2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868680" y="3014623"/>
            <a:ext cx="50292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Possible causes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Scanner noise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Weak signal 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Fast acquisition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Patient motion</a:t>
            </a:r>
            <a:endParaRPr sz="1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6537955" y="3026310"/>
            <a:ext cx="5029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Possible causes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Magnetic field inhomogeneity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Coil sensitivity differences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Acquisition setup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 Field: Smooth Intensity Distortion</a:t>
            </a:r>
            <a:endParaRPr/>
          </a:p>
        </p:txBody>
      </p:sp>
      <p:pic>
        <p:nvPicPr>
          <p:cNvPr descr="bias_field_demo.png" id="264" name="Google Shape;2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111" y="1413874"/>
            <a:ext cx="10003474" cy="31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 txBox="1"/>
          <p:nvPr/>
        </p:nvSpPr>
        <p:spPr>
          <a:xfrm>
            <a:off x="594350" y="5270407"/>
            <a:ext cx="109728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Smooth intensity warp — not random noise.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Simple smoothing cannot reliably reverse it.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Severity Selection on Validation Set</a:t>
            </a:r>
            <a:endParaRPr/>
          </a:p>
        </p:txBody>
      </p:sp>
      <p:pic>
        <p:nvPicPr>
          <p:cNvPr descr="sweep_DSC_WT_vs_sigma.png" id="275" name="Google Shape;2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072672"/>
            <a:ext cx="5678926" cy="354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pic>
        <p:nvPicPr>
          <p:cNvPr descr="sweep_DSC_WT_vs_strength.png" id="278" name="Google Shape;2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1400" y="1072675"/>
            <a:ext cx="5444349" cy="354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 txBox="1"/>
          <p:nvPr/>
        </p:nvSpPr>
        <p:spPr>
          <a:xfrm>
            <a:off x="868680" y="4828394"/>
            <a:ext cx="5029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Gaussian noise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Raw corrupted performance drops as σ increases.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Smoothing filters stay close to the clean baseline.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Final level selected: σ = 3.0.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6766543" y="4828394"/>
            <a:ext cx="5029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Bias field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Smoothing filters do not recover the distortion.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N4 remains the most stable correction.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Final level selected: strength = 1.2.</a:t>
            </a:r>
            <a:endParaRPr sz="16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Data-Level Mitigations: Preprocessing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365755" y="922288"/>
            <a:ext cx="10972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Applied to corrupted FLAIR before the model sees it</a:t>
            </a:r>
            <a:endParaRPr sz="2000"/>
          </a:p>
        </p:txBody>
      </p:sp>
      <p:sp>
        <p:nvSpPr>
          <p:cNvPr id="289" name="Google Shape;289;p11"/>
          <p:cNvSpPr/>
          <p:nvPr/>
        </p:nvSpPr>
        <p:spPr>
          <a:xfrm>
            <a:off x="365760" y="1645920"/>
            <a:ext cx="256032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548640" y="1737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2926080" y="1645920"/>
            <a:ext cx="530352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3108960" y="1737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8229600" y="1645920"/>
            <a:ext cx="356616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8412480" y="17373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65760" y="2103120"/>
            <a:ext cx="25603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48640" y="226771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2926080" y="2103120"/>
            <a:ext cx="53035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3108960" y="226771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8229600" y="2103120"/>
            <a:ext cx="356616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8412480" y="2267712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ontrol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365760" y="2670048"/>
            <a:ext cx="2560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548640" y="28346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mean_3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2926080" y="2670048"/>
            <a:ext cx="53035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3108960" y="2834640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uniform kernel</a:t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8229600" y="2670048"/>
            <a:ext cx="3566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8412480" y="2834640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moothing</a:t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65760" y="3236976"/>
            <a:ext cx="25603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548640" y="340156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gaussian_0p5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2926080" y="3236976"/>
            <a:ext cx="53035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3108960" y="34015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σ = 0.5 voxel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8229600" y="3236976"/>
            <a:ext cx="356616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8412480" y="3401568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arrow</a:t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365760" y="3803904"/>
            <a:ext cx="2560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548640" y="3968496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gaussian_1p0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2926080" y="3803904"/>
            <a:ext cx="53035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3108960" y="396849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σ = 1.0 voxel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8229600" y="3803904"/>
            <a:ext cx="3566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8412480" y="3968496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oderate</a:t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65760" y="4370832"/>
            <a:ext cx="25603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548640" y="4535424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gaussian_1p5</a:t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2926080" y="4370832"/>
            <a:ext cx="530352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3108960" y="453542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σ = 1.5 voxel</a:t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8229600" y="4370832"/>
            <a:ext cx="3566160" cy="566928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8412480" y="4535424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ider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365760" y="4937760"/>
            <a:ext cx="2560320" cy="566928"/>
          </a:xfrm>
          <a:prstGeom prst="rect">
            <a:avLst/>
          </a:prstGeom>
          <a:solidFill>
            <a:srgbClr val="F5E6FC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48640" y="510235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467BD"/>
                </a:solidFill>
                <a:latin typeface="Consolas"/>
                <a:ea typeface="Consolas"/>
                <a:cs typeface="Consolas"/>
                <a:sym typeface="Consolas"/>
              </a:rPr>
              <a:t>N4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2926080" y="4937760"/>
            <a:ext cx="5303520" cy="566928"/>
          </a:xfrm>
          <a:prstGeom prst="rect">
            <a:avLst/>
          </a:prstGeom>
          <a:solidFill>
            <a:srgbClr val="F5E6FC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3108960" y="51023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fit + divide multiplicative b(x)</a:t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8229600" y="4937760"/>
            <a:ext cx="3566160" cy="566928"/>
          </a:xfrm>
          <a:prstGeom prst="rect">
            <a:avLst/>
          </a:prstGeom>
          <a:solidFill>
            <a:srgbClr val="F5E6FC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8412480" y="5102352"/>
            <a:ext cx="329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old std for bias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>
              <a:solidFill>
                <a:srgbClr val="7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365760" y="137160"/>
            <a:ext cx="1143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Model-Level Mitigation: Fine-Tuning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365760" y="1444760"/>
            <a:ext cx="32919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3657600" y="1444760"/>
            <a:ext cx="81381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548640" y="1609352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Start from</a:t>
            </a:r>
            <a:endParaRPr sz="1700"/>
          </a:p>
        </p:txBody>
      </p:sp>
      <p:sp>
        <p:nvSpPr>
          <p:cNvPr id="342" name="Google Shape;342;p12"/>
          <p:cNvSpPr txBox="1"/>
          <p:nvPr/>
        </p:nvSpPr>
        <p:spPr>
          <a:xfrm>
            <a:off x="3840480" y="1609352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MONAI bundle weights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365760" y="2011688"/>
            <a:ext cx="32919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3657600" y="2011688"/>
            <a:ext cx="81381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548640" y="2176280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sz="1700"/>
          </a:p>
        </p:txBody>
      </p:sp>
      <p:sp>
        <p:nvSpPr>
          <p:cNvPr id="346" name="Google Shape;346;p12"/>
          <p:cNvSpPr txBox="1"/>
          <p:nvPr/>
        </p:nvSpPr>
        <p:spPr>
          <a:xfrm>
            <a:off x="3840480" y="2176280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AdamW · LR 1e-5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65760" y="2578616"/>
            <a:ext cx="32919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657600" y="2578616"/>
            <a:ext cx="81381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548640" y="2743208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1700"/>
          </a:p>
        </p:txBody>
      </p:sp>
      <p:sp>
        <p:nvSpPr>
          <p:cNvPr id="350" name="Google Shape;350;p12"/>
          <p:cNvSpPr txBox="1"/>
          <p:nvPr/>
        </p:nvSpPr>
        <p:spPr>
          <a:xfrm>
            <a:off x="3840480" y="2743208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DiceCELoss (sigmoid)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5760" y="3145544"/>
            <a:ext cx="32919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657600" y="3145544"/>
            <a:ext cx="81381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548640" y="3310136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54" name="Google Shape;354;p12"/>
          <p:cNvSpPr txBox="1"/>
          <p:nvPr/>
        </p:nvSpPr>
        <p:spPr>
          <a:xfrm>
            <a:off x="3840480" y="3310136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365760" y="3712472"/>
            <a:ext cx="32919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3657600" y="3712472"/>
            <a:ext cx="81381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539258" y="3286019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1700"/>
          </a:p>
        </p:txBody>
      </p:sp>
      <p:sp>
        <p:nvSpPr>
          <p:cNvPr id="358" name="Google Shape;358;p12"/>
          <p:cNvSpPr txBox="1"/>
          <p:nvPr/>
        </p:nvSpPr>
        <p:spPr>
          <a:xfrm>
            <a:off x="3831098" y="3286019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FLAIR-only · prob 0.7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365760" y="4279400"/>
            <a:ext cx="32919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3657600" y="4279400"/>
            <a:ext cx="81381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539258" y="3852947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Gaussian-FT</a:t>
            </a:r>
            <a:endParaRPr sz="1700"/>
          </a:p>
        </p:txBody>
      </p:sp>
      <p:sp>
        <p:nvSpPr>
          <p:cNvPr id="362" name="Google Shape;362;p12"/>
          <p:cNvSpPr txBox="1"/>
          <p:nvPr/>
        </p:nvSpPr>
        <p:spPr>
          <a:xfrm>
            <a:off x="3831098" y="3852947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σ ~ U(0.2, 3.0)</a:t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365760" y="4846328"/>
            <a:ext cx="32919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657600" y="4846328"/>
            <a:ext cx="8138100" cy="5670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539258" y="4419875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Bias-FT</a:t>
            </a:r>
            <a:endParaRPr sz="1700"/>
          </a:p>
        </p:txBody>
      </p:sp>
      <p:sp>
        <p:nvSpPr>
          <p:cNvPr id="366" name="Google Shape;366;p12"/>
          <p:cNvSpPr txBox="1"/>
          <p:nvPr/>
        </p:nvSpPr>
        <p:spPr>
          <a:xfrm>
            <a:off x="3831098" y="4419875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strength ~ U(0.2, 1.2)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539258" y="4986803"/>
            <a:ext cx="3017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Steps · val</a:t>
            </a:r>
            <a:endParaRPr sz="1700"/>
          </a:p>
        </p:txBody>
      </p:sp>
      <p:sp>
        <p:nvSpPr>
          <p:cNvPr id="368" name="Google Shape;368;p12"/>
          <p:cNvSpPr txBox="1"/>
          <p:nvPr/>
        </p:nvSpPr>
        <p:spPr>
          <a:xfrm>
            <a:off x="3831098" y="4986803"/>
            <a:ext cx="786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10607040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90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3a268200d_20_0"/>
          <p:cNvSpPr/>
          <p:nvPr/>
        </p:nvSpPr>
        <p:spPr>
          <a:xfrm>
            <a:off x="0" y="0"/>
            <a:ext cx="12191400" cy="6585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3a268200d_20_0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Metrics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(WT, TC, and ET tumor regions)</a:t>
            </a:r>
            <a:endParaRPr/>
          </a:p>
        </p:txBody>
      </p:sp>
      <p:sp>
        <p:nvSpPr>
          <p:cNvPr id="377" name="Google Shape;377;g3e3a268200d_20_0"/>
          <p:cNvSpPr/>
          <p:nvPr/>
        </p:nvSpPr>
        <p:spPr>
          <a:xfrm>
            <a:off x="398550" y="2913409"/>
            <a:ext cx="2194500" cy="6402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e3a268200d_20_0"/>
          <p:cNvSpPr txBox="1"/>
          <p:nvPr/>
        </p:nvSpPr>
        <p:spPr>
          <a:xfrm>
            <a:off x="581425" y="3114577"/>
            <a:ext cx="1920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Dice Score (DSC)</a:t>
            </a:r>
            <a:endParaRPr b="1" i="0" sz="17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3a268200d_20_0"/>
          <p:cNvSpPr/>
          <p:nvPr/>
        </p:nvSpPr>
        <p:spPr>
          <a:xfrm>
            <a:off x="2593052" y="2913409"/>
            <a:ext cx="6126300" cy="6402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3a268200d_20_0"/>
          <p:cNvSpPr txBox="1"/>
          <p:nvPr/>
        </p:nvSpPr>
        <p:spPr>
          <a:xfrm>
            <a:off x="2775927" y="3114577"/>
            <a:ext cx="58521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Dice  ·  2·|P∩G|/(|P|+|G|)  ·  [0,1]</a:t>
            </a:r>
            <a:endParaRPr/>
          </a:p>
        </p:txBody>
      </p:sp>
      <p:sp>
        <p:nvSpPr>
          <p:cNvPr id="381" name="Google Shape;381;g3e3a268200d_20_0"/>
          <p:cNvSpPr/>
          <p:nvPr/>
        </p:nvSpPr>
        <p:spPr>
          <a:xfrm>
            <a:off x="8719368" y="2913409"/>
            <a:ext cx="3108900" cy="640200"/>
          </a:xfrm>
          <a:prstGeom prst="rect">
            <a:avLst/>
          </a:prstGeom>
          <a:solidFill>
            <a:srgbClr val="E8ECF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3a268200d_20_0"/>
          <p:cNvSpPr txBox="1"/>
          <p:nvPr/>
        </p:nvSpPr>
        <p:spPr>
          <a:xfrm>
            <a:off x="8902244" y="3114577"/>
            <a:ext cx="2834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Overlap quality (higher is better)</a:t>
            </a:r>
            <a:endParaRPr b="0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3a268200d_20_0"/>
          <p:cNvSpPr/>
          <p:nvPr/>
        </p:nvSpPr>
        <p:spPr>
          <a:xfrm>
            <a:off x="398550" y="3553489"/>
            <a:ext cx="21945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3a268200d_20_0"/>
          <p:cNvSpPr txBox="1"/>
          <p:nvPr/>
        </p:nvSpPr>
        <p:spPr>
          <a:xfrm>
            <a:off x="581425" y="3754657"/>
            <a:ext cx="19203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Hausdorff (HD95)</a:t>
            </a:r>
            <a:endParaRPr b="1" i="0" sz="18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3a268200d_20_0"/>
          <p:cNvSpPr/>
          <p:nvPr/>
        </p:nvSpPr>
        <p:spPr>
          <a:xfrm>
            <a:off x="2593052" y="3553489"/>
            <a:ext cx="6126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3a268200d_20_0"/>
          <p:cNvSpPr txBox="1"/>
          <p:nvPr/>
        </p:nvSpPr>
        <p:spPr>
          <a:xfrm>
            <a:off x="2775927" y="3754657"/>
            <a:ext cx="58521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Hausdorff distance 95th-percentile · mm</a:t>
            </a:r>
            <a:endParaRPr/>
          </a:p>
        </p:txBody>
      </p:sp>
      <p:sp>
        <p:nvSpPr>
          <p:cNvPr id="387" name="Google Shape;387;g3e3a268200d_20_0"/>
          <p:cNvSpPr/>
          <p:nvPr/>
        </p:nvSpPr>
        <p:spPr>
          <a:xfrm>
            <a:off x="8719368" y="3553489"/>
            <a:ext cx="31089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3a268200d_20_0"/>
          <p:cNvSpPr txBox="1"/>
          <p:nvPr/>
        </p:nvSpPr>
        <p:spPr>
          <a:xfrm>
            <a:off x="8902244" y="3754657"/>
            <a:ext cx="2834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Boundary (lower is better)</a:t>
            </a:r>
            <a:endParaRPr b="0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3a268200d_20_0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390" name="Google Shape;390;g3e3a268200d_20_0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91" name="Google Shape;391;g3e3a268200d_20_0"/>
          <p:cNvSpPr/>
          <p:nvPr/>
        </p:nvSpPr>
        <p:spPr>
          <a:xfrm>
            <a:off x="398550" y="2288376"/>
            <a:ext cx="21945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1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3a268200d_20_0"/>
          <p:cNvSpPr/>
          <p:nvPr/>
        </p:nvSpPr>
        <p:spPr>
          <a:xfrm>
            <a:off x="2593052" y="2288376"/>
            <a:ext cx="6126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3a268200d_20_0"/>
          <p:cNvSpPr/>
          <p:nvPr/>
        </p:nvSpPr>
        <p:spPr>
          <a:xfrm>
            <a:off x="8719368" y="2288376"/>
            <a:ext cx="31089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3a268200d_20_0"/>
          <p:cNvSpPr txBox="1"/>
          <p:nvPr/>
        </p:nvSpPr>
        <p:spPr>
          <a:xfrm>
            <a:off x="398550" y="5035175"/>
            <a:ext cx="598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Additional metrics computed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Sensitivity, false-positive volume and false-negative volume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3a268200d_16_75"/>
          <p:cNvSpPr/>
          <p:nvPr/>
        </p:nvSpPr>
        <p:spPr>
          <a:xfrm>
            <a:off x="0" y="329184"/>
            <a:ext cx="121913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e3a268200d_16_75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3a268200d_16_75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Gaussian · Test Results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_wt_dsc_ranking.png" id="402" name="Google Shape;402;g3e3a268200d_16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477" y="802500"/>
            <a:ext cx="9204714" cy="409567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e3a268200d_16_75"/>
          <p:cNvSpPr txBox="1"/>
          <p:nvPr/>
        </p:nvSpPr>
        <p:spPr>
          <a:xfrm>
            <a:off x="822938" y="5142885"/>
            <a:ext cx="10972508" cy="743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Linear filters fully recover.  Fine-tune slightly behind.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Gaussian noise mainly introduced random high-frequency artifacts that could be removed effectively with smoothing filters.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Fine-tuning required the model to internally adapt to noisy inputs, making recovery less effective than direct preprocessing.</a:t>
            </a:r>
            <a:endParaRPr/>
          </a:p>
        </p:txBody>
      </p:sp>
      <p:sp>
        <p:nvSpPr>
          <p:cNvPr id="404" name="Google Shape;404;g3e3a268200d_16_75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05" name="Google Shape;405;g3e3a268200d_16_75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3a268200d_16_86"/>
          <p:cNvSpPr/>
          <p:nvPr/>
        </p:nvSpPr>
        <p:spPr>
          <a:xfrm>
            <a:off x="0" y="287631"/>
            <a:ext cx="121913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3a268200d_16_86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3a268200d_16_86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 Field · Test Results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_wt_dsc_ranking_bias.png" id="413" name="Google Shape;413;g3e3a268200d_16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597" y="1099664"/>
            <a:ext cx="9958593" cy="406515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e3a268200d_16_86"/>
          <p:cNvSpPr txBox="1"/>
          <p:nvPr/>
        </p:nvSpPr>
        <p:spPr>
          <a:xfrm>
            <a:off x="886601" y="5240353"/>
            <a:ext cx="109725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Bias field introduces smooth global intensity distortion rather than random noise.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Linear smoothing filters blurred useful structures and performed worse than the corrupted input itself.</a:t>
            </a:r>
            <a:endParaRPr b="1" sz="15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N4 bias correction and fine-tuning achieved the best recovery by directly addressing intensity inhomogeneity.</a:t>
            </a:r>
            <a:endParaRPr b="1" sz="15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e3a268200d_16_86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16" name="Google Shape;416;g3e3a268200d_16_86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3a268200d_16_105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3a268200d_16_105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 · Bias-Corrupted Patient Test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alitative_BraTS20_Training_157.png" id="423" name="Google Shape;423;g3e3a268200d_16_105"/>
          <p:cNvPicPr preferRelativeResize="0"/>
          <p:nvPr/>
        </p:nvPicPr>
        <p:blipFill rotWithShape="1">
          <a:blip r:embed="rId3">
            <a:alphaModFix/>
          </a:blip>
          <a:srcRect b="0" l="0" r="50044" t="8629"/>
          <a:stretch/>
        </p:blipFill>
        <p:spPr>
          <a:xfrm>
            <a:off x="2458646" y="1534413"/>
            <a:ext cx="6267136" cy="220023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3a268200d_16_105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25" name="Google Shape;425;g3e3a268200d_16_105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pic>
        <p:nvPicPr>
          <p:cNvPr descr="qualitative_BraTS20_Training_157.png" id="426" name="Google Shape;426;g3e3a268200d_16_105"/>
          <p:cNvPicPr preferRelativeResize="0"/>
          <p:nvPr/>
        </p:nvPicPr>
        <p:blipFill rotWithShape="1">
          <a:blip r:embed="rId3">
            <a:alphaModFix/>
          </a:blip>
          <a:srcRect b="823" l="33933" r="146" t="7806"/>
          <a:stretch/>
        </p:blipFill>
        <p:spPr>
          <a:xfrm>
            <a:off x="1457212" y="3926865"/>
            <a:ext cx="8270019" cy="2200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alitative_BraTS20_Training_157.png" id="427" name="Google Shape;427;g3e3a268200d_16_105"/>
          <p:cNvPicPr preferRelativeResize="0"/>
          <p:nvPr/>
        </p:nvPicPr>
        <p:blipFill rotWithShape="1">
          <a:blip r:embed="rId3">
            <a:alphaModFix/>
          </a:blip>
          <a:srcRect b="91346" l="26966" r="23078" t="1481"/>
          <a:stretch/>
        </p:blipFill>
        <p:spPr>
          <a:xfrm>
            <a:off x="1457212" y="1084859"/>
            <a:ext cx="9337675" cy="257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3a268200d_16_115"/>
          <p:cNvSpPr/>
          <p:nvPr/>
        </p:nvSpPr>
        <p:spPr>
          <a:xfrm>
            <a:off x="0" y="320040"/>
            <a:ext cx="121913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3a268200d_16_115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3a268200d_16_115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Forgetting Check · Cost on Clean Inputs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e3a268200d_16_115"/>
          <p:cNvSpPr/>
          <p:nvPr/>
        </p:nvSpPr>
        <p:spPr>
          <a:xfrm>
            <a:off x="640063" y="1280160"/>
            <a:ext cx="4937628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D62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3a268200d_16_115"/>
          <p:cNvSpPr txBox="1"/>
          <p:nvPr/>
        </p:nvSpPr>
        <p:spPr>
          <a:xfrm>
            <a:off x="681775" y="1540775"/>
            <a:ext cx="489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Gaussian-augmented FT</a:t>
            </a:r>
            <a:endParaRPr sz="2000"/>
          </a:p>
        </p:txBody>
      </p:sp>
      <p:sp>
        <p:nvSpPr>
          <p:cNvPr id="437" name="Google Shape;437;g3e3a268200d_16_115"/>
          <p:cNvSpPr txBox="1"/>
          <p:nvPr/>
        </p:nvSpPr>
        <p:spPr>
          <a:xfrm>
            <a:off x="640075" y="2377450"/>
            <a:ext cx="49377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−2.0</a:t>
            </a:r>
            <a:endParaRPr/>
          </a:p>
        </p:txBody>
      </p:sp>
      <p:sp>
        <p:nvSpPr>
          <p:cNvPr id="438" name="Google Shape;438;g3e3a268200d_16_115"/>
          <p:cNvSpPr txBox="1"/>
          <p:nvPr/>
        </p:nvSpPr>
        <p:spPr>
          <a:xfrm>
            <a:off x="2475881" y="3342845"/>
            <a:ext cx="4937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pts WT-DSC</a:t>
            </a:r>
            <a:endParaRPr/>
          </a:p>
        </p:txBody>
      </p:sp>
      <p:sp>
        <p:nvSpPr>
          <p:cNvPr id="439" name="Google Shape;439;g3e3a268200d_16_115"/>
          <p:cNvSpPr txBox="1"/>
          <p:nvPr/>
        </p:nvSpPr>
        <p:spPr>
          <a:xfrm>
            <a:off x="681750" y="4250625"/>
            <a:ext cx="48960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noticeable</a:t>
            </a:r>
            <a:endParaRPr/>
          </a:p>
        </p:txBody>
      </p:sp>
      <p:sp>
        <p:nvSpPr>
          <p:cNvPr id="440" name="Google Shape;440;g3e3a268200d_16_115"/>
          <p:cNvSpPr/>
          <p:nvPr/>
        </p:nvSpPr>
        <p:spPr>
          <a:xfrm>
            <a:off x="6126317" y="1280160"/>
            <a:ext cx="5211941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2C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3a268200d_16_115"/>
          <p:cNvSpPr txBox="1"/>
          <p:nvPr/>
        </p:nvSpPr>
        <p:spPr>
          <a:xfrm>
            <a:off x="6168000" y="1540775"/>
            <a:ext cx="5170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Bias-augmented FT</a:t>
            </a:r>
            <a:endParaRPr sz="2000"/>
          </a:p>
        </p:txBody>
      </p:sp>
      <p:sp>
        <p:nvSpPr>
          <p:cNvPr id="442" name="Google Shape;442;g3e3a268200d_16_115"/>
          <p:cNvSpPr txBox="1"/>
          <p:nvPr/>
        </p:nvSpPr>
        <p:spPr>
          <a:xfrm>
            <a:off x="6126325" y="2377450"/>
            <a:ext cx="52119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−0.5</a:t>
            </a:r>
            <a:endParaRPr/>
          </a:p>
        </p:txBody>
      </p:sp>
      <p:sp>
        <p:nvSpPr>
          <p:cNvPr id="443" name="Google Shape;443;g3e3a268200d_16_115"/>
          <p:cNvSpPr txBox="1"/>
          <p:nvPr/>
        </p:nvSpPr>
        <p:spPr>
          <a:xfrm>
            <a:off x="8074715" y="3337560"/>
            <a:ext cx="4937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pts WT-DSC</a:t>
            </a:r>
            <a:endParaRPr/>
          </a:p>
        </p:txBody>
      </p:sp>
      <p:sp>
        <p:nvSpPr>
          <p:cNvPr id="444" name="Google Shape;444;g3e3a268200d_16_115"/>
          <p:cNvSpPr txBox="1"/>
          <p:nvPr/>
        </p:nvSpPr>
        <p:spPr>
          <a:xfrm>
            <a:off x="6126325" y="4250625"/>
            <a:ext cx="5211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negligible</a:t>
            </a:r>
            <a:endParaRPr/>
          </a:p>
        </p:txBody>
      </p:sp>
      <p:sp>
        <p:nvSpPr>
          <p:cNvPr id="445" name="Google Shape;445;g3e3a268200d_16_115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46" name="Google Shape;446;g3e3a268200d_16_115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47" name="Google Shape;447;g3e3a268200d_16_115"/>
          <p:cNvSpPr txBox="1"/>
          <p:nvPr/>
        </p:nvSpPr>
        <p:spPr>
          <a:xfrm>
            <a:off x="1920189" y="5666601"/>
            <a:ext cx="832081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Gaussian augmentation caused stronger adaptation and more forgetting on clean data.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Bias augmentation was closer to natural MRI variation and preserved clean performance better.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3a268200d_16_134"/>
          <p:cNvSpPr/>
          <p:nvPr/>
        </p:nvSpPr>
        <p:spPr>
          <a:xfrm>
            <a:off x="0" y="289368"/>
            <a:ext cx="121913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3a268200d_16_134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3a268200d_16_134"/>
          <p:cNvSpPr txBox="1"/>
          <p:nvPr/>
        </p:nvSpPr>
        <p:spPr>
          <a:xfrm>
            <a:off x="365750" y="137160"/>
            <a:ext cx="11429695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3a268200d_16_134"/>
          <p:cNvSpPr txBox="1"/>
          <p:nvPr/>
        </p:nvSpPr>
        <p:spPr>
          <a:xfrm>
            <a:off x="640063" y="1463040"/>
            <a:ext cx="9143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6" name="Google Shape;456;g3e3a268200d_16_134"/>
          <p:cNvSpPr txBox="1"/>
          <p:nvPr/>
        </p:nvSpPr>
        <p:spPr>
          <a:xfrm>
            <a:off x="1817178" y="1975104"/>
            <a:ext cx="9875257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filtering works best for Gaussian noise</a:t>
            </a:r>
            <a:endParaRPr/>
          </a:p>
        </p:txBody>
      </p:sp>
      <p:sp>
        <p:nvSpPr>
          <p:cNvPr id="457" name="Google Shape;457;g3e3a268200d_16_134"/>
          <p:cNvSpPr txBox="1"/>
          <p:nvPr/>
        </p:nvSpPr>
        <p:spPr>
          <a:xfrm>
            <a:off x="640063" y="2926080"/>
            <a:ext cx="9143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8" name="Google Shape;458;g3e3a268200d_16_134"/>
          <p:cNvSpPr txBox="1"/>
          <p:nvPr/>
        </p:nvSpPr>
        <p:spPr>
          <a:xfrm>
            <a:off x="1817178" y="3438144"/>
            <a:ext cx="9875257" cy="420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Bias field requires N4 correction or fine-tuning</a:t>
            </a:r>
            <a:endParaRPr/>
          </a:p>
        </p:txBody>
      </p:sp>
      <p:sp>
        <p:nvSpPr>
          <p:cNvPr id="459" name="Google Shape;459;g3e3a268200d_16_134"/>
          <p:cNvSpPr txBox="1"/>
          <p:nvPr/>
        </p:nvSpPr>
        <p:spPr>
          <a:xfrm>
            <a:off x="640063" y="4389120"/>
            <a:ext cx="9143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60" name="Google Shape;460;g3e3a268200d_16_134"/>
          <p:cNvSpPr txBox="1"/>
          <p:nvPr/>
        </p:nvSpPr>
        <p:spPr>
          <a:xfrm>
            <a:off x="1817178" y="4901184"/>
            <a:ext cx="987525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Bias-augmented fine-tune barely forgets · −0.5 pts</a:t>
            </a:r>
            <a:endParaRPr/>
          </a:p>
        </p:txBody>
      </p:sp>
      <p:sp>
        <p:nvSpPr>
          <p:cNvPr id="461" name="Google Shape;461;g3e3a268200d_16_134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62" name="Google Shape;462;g3e3a268200d_16_134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3a268200d_16_148"/>
          <p:cNvSpPr/>
          <p:nvPr/>
        </p:nvSpPr>
        <p:spPr>
          <a:xfrm>
            <a:off x="0" y="374904"/>
            <a:ext cx="121913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e3a268200d_16_148"/>
          <p:cNvSpPr/>
          <p:nvPr/>
        </p:nvSpPr>
        <p:spPr>
          <a:xfrm>
            <a:off x="0" y="0"/>
            <a:ext cx="12191370" cy="6583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e3a268200d_16_148"/>
          <p:cNvSpPr txBox="1"/>
          <p:nvPr/>
        </p:nvSpPr>
        <p:spPr>
          <a:xfrm>
            <a:off x="365750" y="137160"/>
            <a:ext cx="114296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470" name="Google Shape;470;g3e3a268200d_16_148"/>
          <p:cNvSpPr/>
          <p:nvPr/>
        </p:nvSpPr>
        <p:spPr>
          <a:xfrm>
            <a:off x="1097251" y="2057400"/>
            <a:ext cx="320031" cy="3200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e3a268200d_16_148"/>
          <p:cNvSpPr txBox="1"/>
          <p:nvPr/>
        </p:nvSpPr>
        <p:spPr>
          <a:xfrm>
            <a:off x="1828751" y="2157984"/>
            <a:ext cx="9600944" cy="328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two corruption types were evaluated; other MRI artifacts remain unexplored.</a:t>
            </a:r>
            <a:endParaRPr b="0" sz="1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e3a268200d_16_148"/>
          <p:cNvSpPr/>
          <p:nvPr/>
        </p:nvSpPr>
        <p:spPr>
          <a:xfrm>
            <a:off x="1097251" y="3337560"/>
            <a:ext cx="320031" cy="3200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e3a268200d_16_148"/>
          <p:cNvSpPr txBox="1"/>
          <p:nvPr/>
        </p:nvSpPr>
        <p:spPr>
          <a:xfrm>
            <a:off x="1828751" y="3438144"/>
            <a:ext cx="9600944" cy="328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Experiments were performed on a single segmentation architecture (MONAI SegResNet).</a:t>
            </a:r>
            <a:endParaRPr b="0" sz="1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3a268200d_16_148"/>
          <p:cNvSpPr/>
          <p:nvPr/>
        </p:nvSpPr>
        <p:spPr>
          <a:xfrm>
            <a:off x="1097251" y="4617720"/>
            <a:ext cx="320031" cy="3200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3a268200d_16_148"/>
          <p:cNvSpPr txBox="1"/>
          <p:nvPr/>
        </p:nvSpPr>
        <p:spPr>
          <a:xfrm>
            <a:off x="1828751" y="4663440"/>
            <a:ext cx="9600944" cy="328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bias field corruption was synthetic and closely matched the assumptions of N4 correction.</a:t>
            </a:r>
            <a:endParaRPr b="0" sz="1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e3a268200d_16_148"/>
          <p:cNvSpPr txBox="1"/>
          <p:nvPr/>
        </p:nvSpPr>
        <p:spPr>
          <a:xfrm>
            <a:off x="365750" y="6492240"/>
            <a:ext cx="73150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BraTS Robustness · CAMP2 (IN2022) · TUM</a:t>
            </a:r>
            <a:endParaRPr/>
          </a:p>
        </p:txBody>
      </p:sp>
      <p:sp>
        <p:nvSpPr>
          <p:cNvPr id="477" name="Google Shape;477;g3e3a268200d_16_148"/>
          <p:cNvSpPr txBox="1"/>
          <p:nvPr/>
        </p:nvSpPr>
        <p:spPr>
          <a:xfrm>
            <a:off x="10606757" y="6492240"/>
            <a:ext cx="1280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b="0"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3a268200d_16_162"/>
          <p:cNvSpPr/>
          <p:nvPr/>
        </p:nvSpPr>
        <p:spPr>
          <a:xfrm>
            <a:off x="0" y="0"/>
            <a:ext cx="1219137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e3a268200d_16_162"/>
          <p:cNvSpPr txBox="1"/>
          <p:nvPr/>
        </p:nvSpPr>
        <p:spPr>
          <a:xfrm>
            <a:off x="0" y="2560325"/>
            <a:ext cx="121914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e3a268200d_16_162"/>
          <p:cNvSpPr txBox="1"/>
          <p:nvPr/>
        </p:nvSpPr>
        <p:spPr>
          <a:xfrm>
            <a:off x="640063" y="4023360"/>
            <a:ext cx="10972508" cy="38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b="0" sz="22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